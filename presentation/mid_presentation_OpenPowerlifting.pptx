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60152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3800" b="1">
                <a:solidFill>
                  <a:srgbClr val="1F3864"/>
                </a:solidFill>
                <a:latin typeface="Arial"/>
              </a:rPr>
              <a:t>איך מתחרי הרמת-כוח "משחקים" עם המספרים</a:t>
            </a:r>
          </a:p>
          <a:p>
            <a:pPr rtl="1" algn="ctr">
              <a:spcAft>
                <a:spcPts val="2200"/>
              </a:spcAft>
            </a:pPr>
            <a:r>
              <a:rPr sz="1900" b="0">
                <a:solidFill>
                  <a:srgbClr val="707070"/>
                </a:solidFill>
                <a:latin typeface="Arial"/>
              </a:rPr>
              <a:t>ניתוח סטטיסטי של OpenPowerlifting — מה הנתונים חושפים על גבולות הכוח</a:t>
            </a:r>
          </a:p>
          <a:p>
            <a:pPr rtl="1" algn="ctr">
              <a:spcAft>
                <a:spcPts val="2600"/>
              </a:spcAft>
            </a:pPr>
            <a:r>
              <a:rPr sz="2100" b="1">
                <a:solidFill>
                  <a:srgbClr val="C0531B"/>
                </a:solidFill>
                <a:latin typeface="Arial"/>
              </a:rPr>
              <a:t>96.2% מ-13.4 מיליון ניסיונות נופלים בדיוק על רשת 2.5 ק"ג</a:t>
            </a:r>
          </a:p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22222"/>
                </a:solidFill>
                <a:latin typeface="Arial"/>
              </a:rPr>
              <a:t>אדיר אלמקייס · דוד לוין</a:t>
            </a:r>
          </a:p>
          <a:p>
            <a:pPr rtl="1" algn="ctr">
              <a:spcAft>
                <a:spcPts val="800"/>
              </a:spcAft>
            </a:pPr>
            <a:r>
              <a:rPr sz="1600" b="0">
                <a:solidFill>
                  <a:srgbClr val="707070"/>
                </a:solidFill>
                <a:latin typeface="Arial"/>
              </a:rPr>
              <a:t>תאוריה סטטיסטית · פרויקט סוף — מצגת אמצע</a:t>
            </a:r>
          </a:p>
        </p:txBody>
      </p:sp>
      <p:sp>
        <p:nvSpPr>
          <p:cNvPr id="4" name="Rectangle 3"/>
          <p:cNvSpPr/>
          <p:nvPr/>
        </p:nvSpPr>
        <p:spPr>
          <a:xfrm>
            <a:off x="4023360" y="5532120"/>
            <a:ext cx="4114800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נתוני המחקר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מקור: OpenPowerlifting — מאגר פתוח של תוצאות תחרויות הרמת-כוח (רישיון CC0).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היקף: כ-3.94 מיליון תוצאות (שורה לכל מתחרה בכל תחרות), 42 משתנים.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משתנים: רציפים — משקל-גוף, משקלי-ניסיון, Total, Dots; קטגוריים — מין, ציוד, פדרציה, מקטע-משקל, Tested.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ניקוי ושחזור: אותו מתחרה מופיע בכמה תחרויות (תלות בין שורות) → dedup לפי-מתחרה; עותק-נתונים נעול לשחזור מלא.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עיקרי העבודה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הרעיון: שני המספרים שהמתחרה שולט בהם — המוט והמאזניים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רקע: בהרמת-כוח שלוש הרמות (סקוואט, בנץ', דדליפט), שלושה ניסיונות לכל הרמה, והתחרות בתוך מקטעי משקל-גוף.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מתחרה שולט בדיוק בשני מספרים: המשקל על המוט (בחירת ניסיונות) ומשקל הגוף (בשקילה).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התרומה: לא רק לתאר — אלא מודל-הסתברות מקורי לרשת-המשקלים, ומבחן-מניפולציה עם נקודת-בקרה ו-de-heaping.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שאלת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ארבע השערות, סיפור אחד — "שני המספרים" וגבולות הכוח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כיצד מתבטאת בנתונים ההתנהגות ה"מחושבת" של מתחרים — בבחירת המשקל על המוט ובמשקל הגוף?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H1 — משקלי הניסיון אינם רציפים אלא נופלים רק על רשת 2.5 ק"ג.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H2 — הצטברות משקל-גוף ממש מתחת לסף מקטע-המשקל (עקבי עם חיתוך-משקל).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H3 — קנה-המידה האלומטרי (כוח מול משקל-גוף) שונה בין המינים.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H4 — ניבוי: כמה משתני-השליטה (משקל, ציוד, מין) מנבאים את הכוח הסופי?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שיטות המחקר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H1: מודל נראות עם עיגול-רשת (rounded-likelihood MLE) + מבחן יחס-נראות מוכלל (GLRT, דחיית H0 לערכים גדולים).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H2: מבחן אי-רציפות-צפיפות (McCrary) + מערך-הפרכה — נקודת-בקרה, פלצבו, ו-de-heaping.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H3: רגרסיה log-log + מבחן Wald מול 2/3, עם SE חסין ואיבר-אינטראקציה Sex×log(BW).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H4: רגרסיה מרובה + Random Forest, הערכה ב-R² / Adjusted-R² / Cross-Validation.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תיקון משפחתי לבדיקות מרובות: Bonferroni/Holm/Šidák (FWER) + Benjamini-Hochberg (FDR). בגלל n≈3.9M מובילים בגודל-אפקט+CI, לא ב-p.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(1): רשת ה-2.5 ק"ג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משקלי הניסיון אינם רציפים: 96.2% מתוך 13.4 מיליון ניסיונות בדיוק על רשת ה-2.5 ק"ג (95% CI [96.19%, 96.21%]).</a:t>
            </a:r>
          </a:p>
        </p:txBody>
      </p:sp>
      <p:pic>
        <p:nvPicPr>
          <p:cNvPr id="6" name="Picture 5" descr="fig_quant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780" y="2542032"/>
            <a:ext cx="7106134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(2): חיתוך-משקל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מתחת לסף 83 ק"ג (מחלקת IPF) הצטברות חדה: יחס-לוג מנוקה-עיגול +1.92 ± 0.04 — פי ~6.8 מתחרים ממש-מתחת לעומת ממש-מעל. בבקרה שאינה סף (91 ק"ג): −0.21 ± 0.03. עקבי עם חיתוך-משקל; אישוש פורמלי (McCrary) בהמשך.</a:t>
            </a:r>
          </a:p>
        </p:txBody>
      </p:sp>
      <p:pic>
        <p:nvPicPr>
          <p:cNvPr id="6" name="Picture 5" descr="fig_bunc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746" y="2542032"/>
            <a:ext cx="8690202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(3): קנה-מידה אלומטרי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8/9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קנה-המידה שונה בין המינים: b≈0.72 (R²=0.36) גברים / 0.49 (R²=0.19) נשים, מול 2/3 האיזומטרי. ייבדק פורמלית במבחן Wald (SE חסין); b&lt;0.5 לנשים — אומדן ראשוני, ייתכן אפקט טווח-משקל.</a:t>
            </a:r>
          </a:p>
        </p:txBody>
      </p:sp>
      <p:pic>
        <p:nvPicPr>
          <p:cNvPr id="6" name="Picture 5" descr="fig_all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691" y="2542032"/>
            <a:ext cx="7460311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מסקנות ראשוניות וסיכום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9/9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שני המספרים שהמתחרה שולט בהם נראים בבירור: רשת ה-2.5 ק"ג (המוט), והצטברות מתחת לספים (משקל גוף).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ההצטברות שורדת ניקוי-עיגול ונעדרת בנקודת-בקרה — אינדיקציה ראשונית מעודדת (טרם מבוססת).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הצעדים הבאים: McCrary פורמלי + הפרכה, אלומטריה (Wald), ומודל ניבוי-כוח (רגרסיה + Random Forest, R²/CV).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כל התוצאות יוצגו עם גודל-אפקט, רווחי-סמך, ותיקון משפחתי (FWER/FDR).</a:t>
            </a:r>
          </a:p>
          <a:p>
            <a:pPr rtl="1" algn="r">
              <a:spcAft>
                <a:spcPts val="1400"/>
              </a:spcAft>
            </a:pPr>
            <a:r>
              <a:rPr sz="1900" b="1">
                <a:solidFill>
                  <a:srgbClr val="1F3864"/>
                </a:solidFill>
                <a:latin typeface="Arial"/>
              </a:rPr>
              <a:t>המסקנה: אסטרטגיה משאירה טביעת-אצבע מדידה בנתונים — אנחנו עוברים מתיאור, למבחן, לניבוי.</a:t>
            </a:r>
          </a:p>
          <a:p>
            <a:pPr rtl="1" algn="ctr">
              <a:spcAft>
                <a:spcPts val="0"/>
              </a:spcAft>
            </a:pPr>
            <a:r>
              <a:rPr sz="2400" b="1">
                <a:solidFill>
                  <a:srgbClr val="2E86C1"/>
                </a:solidFill>
                <a:latin typeface="Arial"/>
              </a:rPr>
              <a:t>תודה! שאלות?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